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160520"/>
            <a:ext cx="5120640" cy="4023360"/>
          </a:xfrm>
          <a:prstGeom prst="roundRect">
            <a:avLst>
              <a:gd name="adj" fmla="val 43182"/>
            </a:avLst>
          </a:prstGeom>
          <a:solidFill>
            <a:srgbClr val="00953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023360" cy="4023360"/>
          </a:xfrm>
          <a:prstGeom prst="ellipse">
            <a:avLst/>
          </a:prstGeom>
          <a:solidFill>
            <a:srgbClr val="00953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137160"/>
            <a:ext cx="2743200" cy="2377440"/>
          </a:xfrm>
          <a:prstGeom prst="roundRect">
            <a:avLst>
              <a:gd name="adj" fmla="val 42308"/>
            </a:avLst>
          </a:prstGeom>
          <a:solidFill>
            <a:srgbClr val="2A2A2A">
              <a:alpha val="6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146970" r="-146970" t="0" b="0"/>
          <a:stretch/>
        </p:blipFill>
        <p:spPr>
          <a:xfrm>
            <a:off x="777240" y="658368"/>
            <a:ext cx="2377440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18120" y="7132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spc="150" kern="0" dirty="0">
                <a:solidFill>
                  <a:srgbClr val="A7B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TRANSMISSION × SCHNEIDER ELECTRIC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77240" y="1691640"/>
            <a:ext cx="3297326" cy="274320"/>
          </a:xfrm>
          <a:prstGeom prst="roundRect">
            <a:avLst>
              <a:gd name="adj" fmla="val 50000"/>
            </a:avLst>
          </a:prstGeom>
          <a:solidFill>
            <a:srgbClr val="00953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691640"/>
            <a:ext cx="3297326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CAMPAIGN PERFORMANCE REPORT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58952" y="2212848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generation is 12% ahead of schedule at an efficient, on-plan Cost Per Lead, driven by strong Australian performance.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4480560"/>
            <a:ext cx="3273552" cy="868680"/>
          </a:xfrm>
          <a:prstGeom prst="roundRect">
            <a:avLst>
              <a:gd name="adj" fmla="val 8421"/>
            </a:avLst>
          </a:prstGeom>
          <a:solidFill>
            <a:srgbClr val="2A2A2A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4517136"/>
            <a:ext cx="45720" cy="795528"/>
          </a:xfrm>
          <a:prstGeom prst="rect">
            <a:avLst/>
          </a:prstGeom>
          <a:solidFill>
            <a:srgbClr val="009530"/>
          </a:solidFill>
          <a:ln/>
        </p:spPr>
      </p:sp>
      <p:sp>
        <p:nvSpPr>
          <p:cNvPr id="12" name="Text 9"/>
          <p:cNvSpPr/>
          <p:nvPr/>
        </p:nvSpPr>
        <p:spPr>
          <a:xfrm>
            <a:off x="923544" y="4572000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A7B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 WINDOW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923544" y="4809744"/>
            <a:ext cx="2999232" cy="45720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2026-04-29 → 2026-07-01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233672" y="4480560"/>
            <a:ext cx="3273552" cy="868680"/>
          </a:xfrm>
          <a:prstGeom prst="roundRect">
            <a:avLst>
              <a:gd name="adj" fmla="val 8421"/>
            </a:avLst>
          </a:prstGeom>
          <a:solidFill>
            <a:srgbClr val="2A2A2A"/>
          </a:solidFill>
          <a:ln/>
        </p:spPr>
      </p:sp>
      <p:sp>
        <p:nvSpPr>
          <p:cNvPr id="15" name="Text 12"/>
          <p:cNvSpPr/>
          <p:nvPr/>
        </p:nvSpPr>
        <p:spPr>
          <a:xfrm>
            <a:off x="4379976" y="4572000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A7B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379976" y="4809744"/>
            <a:ext cx="2999232" cy="45720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days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690104" y="4480560"/>
            <a:ext cx="3273552" cy="868680"/>
          </a:xfrm>
          <a:prstGeom prst="roundRect">
            <a:avLst>
              <a:gd name="adj" fmla="val 8421"/>
            </a:avLst>
          </a:prstGeom>
          <a:solidFill>
            <a:srgbClr val="2A2A2A"/>
          </a:solidFill>
          <a:ln/>
        </p:spPr>
      </p:sp>
      <p:sp>
        <p:nvSpPr>
          <p:cNvPr id="18" name="Text 15"/>
          <p:cNvSpPr/>
          <p:nvPr/>
        </p:nvSpPr>
        <p:spPr>
          <a:xfrm>
            <a:off x="7836408" y="4572000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A7B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836408" y="4809744"/>
            <a:ext cx="2999232" cy="45720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regions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77240" y="5623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3 July 2026 · Data through 2026-07-02 UTC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77240" y="6172200"/>
            <a:ext cx="10634472" cy="0"/>
          </a:xfrm>
          <a:prstGeom prst="line">
            <a:avLst/>
          </a:prstGeom>
          <a:noFill/>
          <a:ln w="6350">
            <a:solidFill>
              <a:srgbClr val="A7B0B8">
                <a:alpha val="4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Transmission · Confidential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0800" y="6281928"/>
            <a:ext cx="5010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A7B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pulled live from source data. Analysis &amp; recommendations generated by gemini-2.5-pro (Claude fallback) with live web research - review before circulation.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4023360" cy="3657600"/>
          </a:xfrm>
          <a:prstGeom prst="roundRect">
            <a:avLst>
              <a:gd name="adj" fmla="val 40000"/>
            </a:avLst>
          </a:prstGeom>
          <a:solidFill>
            <a:srgbClr val="EAF6EE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1554480"/>
            <a:ext cx="2011680" cy="2011680"/>
          </a:xfrm>
          <a:prstGeom prst="ellipse">
            <a:avLst/>
          </a:prstGeom>
          <a:solidFill>
            <a:srgbClr val="009530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63095" r="-63095" t="0" b="0"/>
          <a:stretch/>
        </p:blipFill>
        <p:spPr>
          <a:xfrm>
            <a:off x="11018520" y="274320"/>
            <a:ext cx="86868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10896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TRANSMISSION × SCHNEIDER ELECTRIC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02920" y="676656"/>
            <a:ext cx="2326234" cy="274320"/>
          </a:xfrm>
          <a:prstGeom prst="roundRect">
            <a:avLst>
              <a:gd name="adj" fmla="val 50000"/>
            </a:avLst>
          </a:prstGeom>
          <a:solidFill>
            <a:srgbClr val="009530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676656"/>
            <a:ext cx="232623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WHAT HAPPENED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84632" y="1060704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happened?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21208" y="1700784"/>
            <a:ext cx="640080" cy="0"/>
          </a:xfrm>
          <a:prstGeom prst="line">
            <a:avLst/>
          </a:prstGeom>
          <a:noFill/>
          <a:ln w="28575">
            <a:solidFill>
              <a:srgbClr val="00953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E6E9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7395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Transmission · Confidential   ·   Campaign: All campaigns   ·   Regions: All regions   ·   Flight: 2026-04-29 → 2026-07-01   ·   Data through: 2026-07-02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326880" y="647395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· 2 / 4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8732520" y="1078992"/>
            <a:ext cx="2953512" cy="310896"/>
          </a:xfrm>
          <a:prstGeom prst="roundRect">
            <a:avLst>
              <a:gd name="adj" fmla="val 38235"/>
            </a:avLst>
          </a:prstGeom>
          <a:solidFill>
            <a:srgbClr val="FFFFFF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897112" y="1184148"/>
            <a:ext cx="100584" cy="100584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15" name="Text 12"/>
          <p:cNvSpPr/>
          <p:nvPr/>
        </p:nvSpPr>
        <p:spPr>
          <a:xfrm>
            <a:off x="9098280" y="107899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Ahead of plan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09360" y="10789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CAMPAIGNS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1847088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campaign is performing strongly, tracking 12% ahead of its lead generation target one-quarter of the way through its flight window, with costs exactly on plan.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2578608"/>
            <a:ext cx="3605784" cy="1545336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2624328"/>
            <a:ext cx="50292" cy="1453896"/>
          </a:xfrm>
          <a:prstGeom prst="rect">
            <a:avLst/>
          </a:prstGeom>
          <a:solidFill>
            <a:srgbClr val="1E8E3E"/>
          </a:solidFill>
          <a:ln/>
        </p:spPr>
      </p:sp>
      <p:sp>
        <p:nvSpPr>
          <p:cNvPr id="20" name="Shape 17"/>
          <p:cNvSpPr/>
          <p:nvPr/>
        </p:nvSpPr>
        <p:spPr>
          <a:xfrm>
            <a:off x="649224" y="271576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AF6EE"/>
          </a:solidFill>
          <a:ln w="9525">
            <a:solidFill>
              <a:srgbClr val="E6E9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9224" y="2715768"/>
            <a:ext cx="12801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ENGINE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49224" y="2999232"/>
            <a:ext cx="331317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VS TIME-TO-DATE…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49224" y="3200400"/>
            <a:ext cx="3313176" cy="4572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289</a:t>
            </a:r>
            <a:endParaRPr lang="en-US" sz="25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" y="3675888"/>
            <a:ext cx="3313176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 ahead of the pro-rata target of 257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291584" y="2578608"/>
            <a:ext cx="3605784" cy="1545336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91584" y="2624328"/>
            <a:ext cx="50292" cy="1453896"/>
          </a:xfrm>
          <a:prstGeom prst="rect">
            <a:avLst/>
          </a:prstGeom>
          <a:solidFill>
            <a:srgbClr val="1E8E3E"/>
          </a:solidFill>
          <a:ln/>
        </p:spPr>
      </p:sp>
      <p:sp>
        <p:nvSpPr>
          <p:cNvPr id="27" name="Shape 24"/>
          <p:cNvSpPr/>
          <p:nvPr/>
        </p:nvSpPr>
        <p:spPr>
          <a:xfrm>
            <a:off x="4437888" y="271576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AF6EE"/>
          </a:solidFill>
          <a:ln w="9525">
            <a:solidFill>
              <a:srgbClr val="E6E9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37888" y="2715768"/>
            <a:ext cx="12801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ENGINE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437888" y="2999232"/>
            <a:ext cx="331317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LEAD (CPL)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437888" y="3200400"/>
            <a:ext cx="3313176" cy="4572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$87.1</a:t>
            </a:r>
            <a:endParaRPr lang="en-US" sz="2500" dirty="0"/>
          </a:p>
        </p:txBody>
      </p:sp>
      <p:sp>
        <p:nvSpPr>
          <p:cNvPr id="31" name="Text 28"/>
          <p:cNvSpPr txBox="1"/>
          <p:nvPr/>
        </p:nvSpPr>
        <p:spPr>
          <a:xfrm>
            <a:off x="4437888" y="3675888"/>
            <a:ext cx="3313176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 with the planned blended CPL of $87.09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80248" y="2578608"/>
            <a:ext cx="3605784" cy="1545336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80248" y="2624328"/>
            <a:ext cx="50292" cy="1453896"/>
          </a:xfrm>
          <a:prstGeom prst="rect">
            <a:avLst/>
          </a:prstGeom>
          <a:solidFill>
            <a:srgbClr val="1E8E3E"/>
          </a:solidFill>
          <a:ln/>
        </p:spPr>
      </p:sp>
      <p:sp>
        <p:nvSpPr>
          <p:cNvPr id="34" name="Shape 31"/>
          <p:cNvSpPr/>
          <p:nvPr/>
        </p:nvSpPr>
        <p:spPr>
          <a:xfrm>
            <a:off x="8226552" y="2715768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EAF6EE"/>
          </a:solidFill>
          <a:ln w="9525">
            <a:solidFill>
              <a:srgbClr val="E6E9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26552" y="2715768"/>
            <a:ext cx="9144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226552" y="2999232"/>
            <a:ext cx="331317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LEADS VS GOAL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226552" y="3200400"/>
            <a:ext cx="3313176" cy="4572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289 / 1,117</a:t>
            </a:r>
            <a:endParaRPr lang="en-US" sz="2500" dirty="0"/>
          </a:p>
        </p:txBody>
      </p:sp>
      <p:sp>
        <p:nvSpPr>
          <p:cNvPr id="38" name="Text 35"/>
          <p:cNvSpPr txBox="1"/>
          <p:nvPr/>
        </p:nvSpPr>
        <p:spPr>
          <a:xfrm>
            <a:off x="8226552" y="3675888"/>
            <a:ext cx="3313176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25.9% of the total goal achieved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02920" y="4306824"/>
            <a:ext cx="3605784" cy="1545336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2920" y="4352544"/>
            <a:ext cx="50292" cy="1453896"/>
          </a:xfrm>
          <a:prstGeom prst="rect">
            <a:avLst/>
          </a:prstGeom>
          <a:solidFill>
            <a:srgbClr val="1E8E3E"/>
          </a:solidFill>
          <a:ln/>
        </p:spPr>
      </p:sp>
      <p:sp>
        <p:nvSpPr>
          <p:cNvPr id="41" name="Shape 38"/>
          <p:cNvSpPr/>
          <p:nvPr/>
        </p:nvSpPr>
        <p:spPr>
          <a:xfrm>
            <a:off x="649224" y="4443984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EAF6EE"/>
          </a:solidFill>
          <a:ln w="9525">
            <a:solidFill>
              <a:srgbClr val="E6E9E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9224" y="4443984"/>
            <a:ext cx="11887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MEDIA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49224" y="4727448"/>
            <a:ext cx="331317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MEDIA IMPRESSIONS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49224" y="4928616"/>
            <a:ext cx="3313176" cy="4572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6,016,111</a:t>
            </a:r>
            <a:endParaRPr lang="en-US" sz="2500" dirty="0"/>
          </a:p>
        </p:txBody>
      </p:sp>
      <p:sp>
        <p:nvSpPr>
          <p:cNvPr id="45" name="Text 42"/>
          <p:cNvSpPr txBox="1"/>
          <p:nvPr/>
        </p:nvSpPr>
        <p:spPr>
          <a:xfrm>
            <a:off x="649224" y="5404104"/>
            <a:ext cx="3313176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at a highly efficient blended CPM of $2.34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291584" y="4306824"/>
            <a:ext cx="3605784" cy="1545336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291584" y="4352544"/>
            <a:ext cx="50292" cy="1453896"/>
          </a:xfrm>
          <a:prstGeom prst="rect">
            <a:avLst/>
          </a:prstGeom>
          <a:solidFill>
            <a:srgbClr val="6B7785"/>
          </a:solidFill>
          <a:ln/>
        </p:spPr>
      </p:sp>
      <p:sp>
        <p:nvSpPr>
          <p:cNvPr id="48" name="Shape 45"/>
          <p:cNvSpPr/>
          <p:nvPr/>
        </p:nvSpPr>
        <p:spPr>
          <a:xfrm>
            <a:off x="4437888" y="4443984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EAF6EE"/>
          </a:solidFill>
          <a:ln w="9525">
            <a:solidFill>
              <a:srgbClr val="E6E9E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437888" y="4443984"/>
            <a:ext cx="8229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4437888" y="4727448"/>
            <a:ext cx="331317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SPEND (CS)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437888" y="4928616"/>
            <a:ext cx="3313176" cy="4572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$97,288</a:t>
            </a:r>
            <a:endParaRPr lang="en-US" sz="2500" dirty="0"/>
          </a:p>
        </p:txBody>
      </p:sp>
      <p:sp>
        <p:nvSpPr>
          <p:cNvPr id="52" name="Text 49"/>
          <p:cNvSpPr txBox="1"/>
          <p:nvPr/>
        </p:nvSpPr>
        <p:spPr>
          <a:xfrm>
            <a:off x="4437888" y="5404104"/>
            <a:ext cx="3313176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planned budget for content syndication leads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4023360" cy="3657600"/>
          </a:xfrm>
          <a:prstGeom prst="roundRect">
            <a:avLst>
              <a:gd name="adj" fmla="val 40000"/>
            </a:avLst>
          </a:prstGeom>
          <a:solidFill>
            <a:srgbClr val="EAF6EE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1554480"/>
            <a:ext cx="2011680" cy="2011680"/>
          </a:xfrm>
          <a:prstGeom prst="ellipse">
            <a:avLst/>
          </a:prstGeom>
          <a:solidFill>
            <a:srgbClr val="009530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63095" r="-63095" t="0" b="0"/>
          <a:stretch/>
        </p:blipFill>
        <p:spPr>
          <a:xfrm>
            <a:off x="11018520" y="274320"/>
            <a:ext cx="86868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10896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TRANSMISSION × SCHNEIDER ELECTRIC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02920" y="676656"/>
            <a:ext cx="1247242" cy="274320"/>
          </a:xfrm>
          <a:prstGeom prst="roundRect">
            <a:avLst>
              <a:gd name="adj" fmla="val 50000"/>
            </a:avLst>
          </a:prstGeom>
          <a:solidFill>
            <a:srgbClr val="009530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676656"/>
            <a:ext cx="1247242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WHY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84632" y="1060704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it happen?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21208" y="1700784"/>
            <a:ext cx="640080" cy="0"/>
          </a:xfrm>
          <a:prstGeom prst="line">
            <a:avLst/>
          </a:prstGeom>
          <a:noFill/>
          <a:ln w="28575">
            <a:solidFill>
              <a:srgbClr val="00953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E6E9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7395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Transmission · Confidential   ·   Campaign: All campaigns   ·   Regions: All regions   ·   Flight: 2026-04-29 → 2026-07-01   ·   Data through: 2026-07-02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326880" y="647395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happened · 3 / 4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847088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positive performance is the result of a well-calibrated media plan and efficient execution, with market dynamics explaining the geographic skew.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2395728"/>
            <a:ext cx="11183112" cy="1237488"/>
          </a:xfrm>
          <a:prstGeom prst="roundRect">
            <a:avLst>
              <a:gd name="adj" fmla="val 4433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2441448"/>
            <a:ext cx="50292" cy="1146048"/>
          </a:xfrm>
          <a:prstGeom prst="rect">
            <a:avLst/>
          </a:prstGeom>
          <a:solidFill>
            <a:srgbClr val="1E8E3E"/>
          </a:solidFill>
          <a:ln/>
        </p:spPr>
      </p:sp>
      <p:sp>
        <p:nvSpPr>
          <p:cNvPr id="16" name="Shape 13"/>
          <p:cNvSpPr/>
          <p:nvPr/>
        </p:nvSpPr>
        <p:spPr>
          <a:xfrm>
            <a:off x="630936" y="250545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" y="25054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5840" y="25054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250545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content syndication mix is delivering on plan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406640" y="2514600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AF6EE"/>
          </a:solidFill>
          <a:ln w="9525">
            <a:solidFill>
              <a:srgbClr val="E6E9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06640" y="2514600"/>
            <a:ext cx="12801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ENGINE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869680" y="251460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CONFIDENCE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2816352"/>
            <a:ext cx="10058400" cy="5242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blend of different Content Syndication vendors and programs is delivering leads at the required volume and planned cost, ensuring the blended CPL remains stable and on-target.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417320" y="3358896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 </a:t>
            </a:r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CPL of $87.1 is on plan; lead volume is 12.2% ahead of the time-to-date target.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02920" y="3761232"/>
            <a:ext cx="11183112" cy="1237488"/>
          </a:xfrm>
          <a:prstGeom prst="roundRect">
            <a:avLst>
              <a:gd name="adj" fmla="val 4433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2920" y="3806952"/>
            <a:ext cx="50292" cy="1146048"/>
          </a:xfrm>
          <a:prstGeom prst="rect">
            <a:avLst/>
          </a:prstGeom>
          <a:solidFill>
            <a:srgbClr val="1E8E3E"/>
          </a:solidFill>
          <a:ln/>
        </p:spPr>
      </p:sp>
      <p:sp>
        <p:nvSpPr>
          <p:cNvPr id="27" name="Shape 24"/>
          <p:cNvSpPr/>
          <p:nvPr/>
        </p:nvSpPr>
        <p:spPr>
          <a:xfrm>
            <a:off x="630936" y="38709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/>
        </p:spPr>
      </p:sp>
      <p:sp>
        <p:nvSpPr>
          <p:cNvPr id="28" name="Text 25"/>
          <p:cNvSpPr/>
          <p:nvPr/>
        </p:nvSpPr>
        <p:spPr>
          <a:xfrm>
            <a:off x="630936" y="3870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05840" y="3870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417320" y="38709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Programmatic-first paid media strategy maximizes reach…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406640" y="3880104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EAF6EE"/>
          </a:solidFill>
          <a:ln w="9525">
            <a:solidFill>
              <a:srgbClr val="E6E9E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06640" y="3880104"/>
            <a:ext cx="11887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MEDIA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869680" y="38801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CONFIDENCE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1417320" y="4181856"/>
            <a:ext cx="10058400" cy="5242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programmatic display (The Trade Desk) for broad, cost-effective awareness and paid social (LinkedIn) for targeted, higher-cost audiences maximizes reach without inflating the overall cost per thousand impressions (CPM).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417320" y="4724400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 </a:t>
            </a:r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 Desk delivered 99% of impressions at a $1.75 CPM, while LinkedIn delivered &lt;1% at a higher $67.33…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02920" y="5126736"/>
            <a:ext cx="11183112" cy="1237488"/>
          </a:xfrm>
          <a:prstGeom prst="roundRect">
            <a:avLst>
              <a:gd name="adj" fmla="val 4433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02920" y="5172456"/>
            <a:ext cx="50292" cy="1146048"/>
          </a:xfrm>
          <a:prstGeom prst="rect">
            <a:avLst/>
          </a:prstGeom>
          <a:solidFill>
            <a:srgbClr val="6B7785"/>
          </a:solidFill>
          <a:ln/>
        </p:spPr>
      </p:sp>
      <p:sp>
        <p:nvSpPr>
          <p:cNvPr id="38" name="Shape 35"/>
          <p:cNvSpPr/>
          <p:nvPr/>
        </p:nvSpPr>
        <p:spPr>
          <a:xfrm>
            <a:off x="630936" y="52364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/>
        </p:spPr>
      </p:sp>
      <p:sp>
        <p:nvSpPr>
          <p:cNvPr id="39" name="Text 36"/>
          <p:cNvSpPr/>
          <p:nvPr/>
        </p:nvSpPr>
        <p:spPr>
          <a:xfrm>
            <a:off x="630936" y="5236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005840" y="5236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▬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417320" y="523646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is concentrated in the larger Australian market as…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7406640" y="5245608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EAF6EE"/>
          </a:solidFill>
          <a:ln w="9525">
            <a:solidFill>
              <a:srgbClr val="E6E9E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406640" y="5245608"/>
            <a:ext cx="8229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869680" y="5245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CONFIDENCE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1417320" y="5547360"/>
            <a:ext cx="10058400" cy="5242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volume and media spend are concentrated in Australia, reflecting its significantly larger Total Addressable Market (TAM) for Schneider Electric's solutions compared to New Zealand.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1417320" y="6089904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 </a:t>
            </a:r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accounts for 88% of leads (253) and 79% of paid media spend ($11,105.26).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4023360" cy="3657600"/>
          </a:xfrm>
          <a:prstGeom prst="roundRect">
            <a:avLst>
              <a:gd name="adj" fmla="val 40000"/>
            </a:avLst>
          </a:prstGeom>
          <a:solidFill>
            <a:srgbClr val="EAF6EE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1554480"/>
            <a:ext cx="2011680" cy="2011680"/>
          </a:xfrm>
          <a:prstGeom prst="ellipse">
            <a:avLst/>
          </a:prstGeom>
          <a:solidFill>
            <a:srgbClr val="009530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63095" r="-63095" t="0" b="0"/>
          <a:stretch/>
        </p:blipFill>
        <p:spPr>
          <a:xfrm>
            <a:off x="11018520" y="274320"/>
            <a:ext cx="86868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10896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TRANSMISSION × SCHNEIDER ELECTRIC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02920" y="676656"/>
            <a:ext cx="2973629" cy="274320"/>
          </a:xfrm>
          <a:prstGeom prst="roundRect">
            <a:avLst>
              <a:gd name="adj" fmla="val 50000"/>
            </a:avLst>
          </a:prstGeom>
          <a:solidFill>
            <a:srgbClr val="009530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676656"/>
            <a:ext cx="2973629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RECOMMENDED ACTIONS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84632" y="1060704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we do?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21208" y="1700784"/>
            <a:ext cx="640080" cy="0"/>
          </a:xfrm>
          <a:prstGeom prst="line">
            <a:avLst/>
          </a:prstGeom>
          <a:noFill/>
          <a:ln w="28575">
            <a:solidFill>
              <a:srgbClr val="00953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E6E9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7395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Transmission · Confidential   ·   Campaign: All campaigns   ·   Regions: All regions   ·   Flight: 2026-04-29 → 2026-07-01   ·   Data through: 2026-07-02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326880" y="647395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actions · 4 / 4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847088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primary recommendation is to maintain the current successful strategy for both content syndication and paid media, while undertaking a small review to find potential optimisations in the New Zealand market.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2395728"/>
            <a:ext cx="1118311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2441448"/>
            <a:ext cx="50292" cy="1133856"/>
          </a:xfrm>
          <a:prstGeom prst="rect">
            <a:avLst/>
          </a:prstGeom>
          <a:solidFill>
            <a:srgbClr val="C8362A"/>
          </a:solidFill>
          <a:ln/>
        </p:spPr>
      </p:sp>
      <p:sp>
        <p:nvSpPr>
          <p:cNvPr id="16" name="Shape 13"/>
          <p:cNvSpPr/>
          <p:nvPr/>
        </p:nvSpPr>
        <p:spPr>
          <a:xfrm>
            <a:off x="630936" y="252374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C8362A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" y="2523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43000" y="25146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current Content Syndication strategy and momentum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0" y="2523744"/>
            <a:ext cx="1417320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12700">
            <a:solidFill>
              <a:srgbClr val="C836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0" y="252374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83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869680" y="253288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AF6EE"/>
          </a:solidFill>
          <a:ln w="9525">
            <a:solidFill>
              <a:srgbClr val="E6E9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69680" y="2532888"/>
            <a:ext cx="12801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ENGINE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241280" y="252374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· LOW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285292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program mix is working as designed, delivering leads ahead of schedule and on-plan CPL.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2920" y="3767328"/>
            <a:ext cx="1118311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2920" y="3813048"/>
            <a:ext cx="50292" cy="1133856"/>
          </a:xfrm>
          <a:prstGeom prst="rect">
            <a:avLst/>
          </a:prstGeom>
          <a:solidFill>
            <a:srgbClr val="C8362A"/>
          </a:solidFill>
          <a:ln/>
        </p:spPr>
      </p:sp>
      <p:sp>
        <p:nvSpPr>
          <p:cNvPr id="27" name="Shape 24"/>
          <p:cNvSpPr/>
          <p:nvPr/>
        </p:nvSpPr>
        <p:spPr>
          <a:xfrm>
            <a:off x="630936" y="389534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C8362A"/>
          </a:solidFill>
          <a:ln/>
        </p:spPr>
      </p:sp>
      <p:sp>
        <p:nvSpPr>
          <p:cNvPr id="28" name="Text 25"/>
          <p:cNvSpPr/>
          <p:nvPr/>
        </p:nvSpPr>
        <p:spPr>
          <a:xfrm>
            <a:off x="630936" y="3895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43000" y="38862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the efficient dual-platform paid media approach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315200" y="3895344"/>
            <a:ext cx="1417320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12700">
            <a:solidFill>
              <a:srgbClr val="C8362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15200" y="389534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83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8869680" y="3904488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EAF6EE"/>
          </a:solidFill>
          <a:ln w="9525">
            <a:solidFill>
              <a:srgbClr val="E6E9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869680" y="3904488"/>
            <a:ext cx="11887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MEDIA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241280" y="389534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· LOW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1143000" y="422452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high/low cost mix (programmatic for reach, social for targeting) is delivering excellent value and cost-effective awareness.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02920" y="5138928"/>
            <a:ext cx="1118311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02920" y="5184648"/>
            <a:ext cx="50292" cy="1133856"/>
          </a:xfrm>
          <a:prstGeom prst="rect">
            <a:avLst/>
          </a:prstGeom>
          <a:solidFill>
            <a:srgbClr val="B97400"/>
          </a:solidFill>
          <a:ln/>
        </p:spPr>
      </p:sp>
      <p:sp>
        <p:nvSpPr>
          <p:cNvPr id="38" name="Shape 35"/>
          <p:cNvSpPr/>
          <p:nvPr/>
        </p:nvSpPr>
        <p:spPr>
          <a:xfrm>
            <a:off x="630936" y="526694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B97400"/>
          </a:solidFill>
          <a:ln/>
        </p:spPr>
      </p:sp>
      <p:sp>
        <p:nvSpPr>
          <p:cNvPr id="39" name="Text 36"/>
          <p:cNvSpPr/>
          <p:nvPr/>
        </p:nvSpPr>
        <p:spPr>
          <a:xfrm>
            <a:off x="630936" y="5266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1143000" y="52578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potential optimisation opportunities in New Zealand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315200" y="5266944"/>
            <a:ext cx="1417320" cy="256032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12700">
            <a:solidFill>
              <a:srgbClr val="B974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315200" y="526694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9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 PRIORITY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8869680" y="527608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AF6EE"/>
          </a:solidFill>
          <a:ln w="9525">
            <a:solidFill>
              <a:srgbClr val="E6E9E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869680" y="5276088"/>
            <a:ext cx="12801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ENGINE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0241280" y="526694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· MED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1143000" y="559612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the AU/NZ performance skew is expected, a brief review of NZ content themes could uncover incremental gains in the smaller market.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Transmission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Schneider Electric Pacific - All campaigns</dc:title>
  <dc:subject>PptxGenJS Presentation</dc:subject>
  <dc:creator>Transmission</dc:creator>
  <cp:lastModifiedBy>Transmission</cp:lastModifiedBy>
  <cp:revision>1</cp:revision>
  <dcterms:created xsi:type="dcterms:W3CDTF">2026-07-03T00:13:02Z</dcterms:created>
  <dcterms:modified xsi:type="dcterms:W3CDTF">2026-07-03T00:13:02Z</dcterms:modified>
</cp:coreProperties>
</file>